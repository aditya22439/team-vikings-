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8BBCFF-4082-401C-AB75-2530DDA1A6A3}" v="30" dt="2026-02-04T09:49:18.723"/>
    <p1510:client id="{DBEAE7BD-4140-4E1E-939E-720B959DE3AB}" v="59" dt="2026-02-03T15:43:42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BB596B0-BA26-4D81-B002-BB0589CA1A47}" type="slidenum"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40038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indent="0" algn="r">
              <a:buNone/>
            </a:pPr>
            <a:fld id="{3BB596B0-BA26-4D81-B002-BB0589CA1A47}" type="slidenum">
              <a:rPr lang="en-IN" sz="1400" b="0" strike="noStrike" spc="-1" smtClean="0">
                <a:solidFill>
                  <a:srgbClr val="000000"/>
                </a:solidFill>
                <a:latin typeface="Times New Roman"/>
              </a:rPr>
              <a:t>1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9953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6C170FC-9F21-43DD-A814-2A37216E1A43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B6A7EF-AEA4-444B-8853-25F8CA8C2E25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65E3A4B-81C9-47EF-8083-AAAA5FE497FC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4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ED2B4AB-D6C5-4F9C-AAA9-ACD7D8D2980C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5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1C4B774-49A7-4820-8658-4853F4CDBC13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6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E43D709-9438-4E06-9555-263A089F8E2E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330A4CCE-CA8D-4F95-B031-78B720E2EAF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176F86A-54A0-4A0A-9141-F1129B62A1C1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DA26866-9E38-4D79-92AB-2D6358588418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www.mdpi.com/1424-8220/18/11/3845" TargetMode="External"/><Relationship Id="rId7" Type="http://schemas.openxmlformats.org/officeDocument/2006/relationships/hyperlink" Target="https://www.sciencedirect.com/science/article/pii/S1574119216301262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dpi.com/1424-8220/22/8/3044?utm_source=chatgpt.com" TargetMode="External"/><Relationship Id="rId5" Type="http://schemas.openxmlformats.org/officeDocument/2006/relationships/hyperlink" Target="https://ijerst.org/index.php/ijerst/article/view/1293?utm_source=chatgpt.com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s://pmc.ncbi.nlm.nih.gov/articles/PMC7583950/?utm_source=chatgpt.com" TargetMode="Externa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3880" y="0"/>
            <a:ext cx="914328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 dirty="0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56" name="Freeform: 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6680" y="851400"/>
            <a:ext cx="4637880" cy="5154120"/>
          </a:xfrm>
          <a:custGeom>
            <a:avLst/>
            <a:gdLst>
              <a:gd name="textAreaLeft" fmla="*/ 0 w 4637880"/>
              <a:gd name="textAreaRight" fmla="*/ 4638600 w 4637880"/>
              <a:gd name="textAreaTop" fmla="*/ 0 h 5154120"/>
              <a:gd name="textAreaBottom" fmla="*/ 5154840 h 5154120"/>
            </a:gdLst>
            <a:ahLst/>
            <a:cxnLst/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1245600" y="648720"/>
            <a:ext cx="8533800" cy="1751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en-IN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en-IN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/>
          </p:nvPr>
        </p:nvSpPr>
        <p:spPr>
          <a:xfrm>
            <a:off x="331200" y="-526680"/>
            <a:ext cx="10362600" cy="207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2"/>
                </a:solidFill>
                <a:latin typeface="Garamond"/>
                <a:ea typeface="ＭＳ Ｐゴシック"/>
              </a:rPr>
              <a:t>“SAMVED” HACKATHON 2026</a:t>
            </a:r>
            <a:endParaRPr lang="en-IN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9"/>
          <p:cNvSpPr/>
          <p:nvPr/>
        </p:nvSpPr>
        <p:spPr>
          <a:xfrm>
            <a:off x="0" y="1752600"/>
            <a:ext cx="8778240" cy="48156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 Black" panose="020B0A04020102020204" pitchFamily="34" charset="0"/>
                <a:ea typeface="ＭＳ Ｐゴシック"/>
              </a:rPr>
              <a:t>Problem Statement ID </a:t>
            </a: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– </a:t>
            </a:r>
            <a:r>
              <a:rPr lang="en-US" sz="2800" b="1" strike="noStrike" spc="-1" dirty="0">
                <a:solidFill>
                  <a:schemeClr val="dk1"/>
                </a:solidFill>
                <a:latin typeface="Bahnschrift Light Condensed" panose="020B0502040204020203" pitchFamily="34" charset="0"/>
                <a:ea typeface="ＭＳ Ｐゴシック"/>
              </a:rPr>
              <a:t>PS-001</a:t>
            </a:r>
            <a:endParaRPr lang="en-IN" sz="2800" b="0" strike="noStrike" spc="-1" dirty="0">
              <a:solidFill>
                <a:srgbClr val="000000"/>
              </a:solidFill>
              <a:latin typeface="Bahnschrift Light Condensed" panose="020B0502040204020203" pitchFamily="34" charset="0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 Black" panose="020B0A04020102020204" pitchFamily="34" charset="0"/>
                <a:ea typeface="ＭＳ Ｐゴシック"/>
              </a:rPr>
              <a:t>Problem Statement Title</a:t>
            </a: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-</a:t>
            </a:r>
            <a:r>
              <a:rPr lang="en-US" sz="2400" b="1" dirty="0">
                <a:latin typeface="Bahnschrift Light SemiCondensed" panose="020B0502040204020203" pitchFamily="34" charset="0"/>
              </a:rPr>
              <a:t>Smart Road Damage Reporting &amp; Rapid Response System for Solapur Municipal Corporation.</a:t>
            </a:r>
            <a:endParaRPr lang="en-IN" sz="2400" b="1" strike="noStrike" spc="-1" dirty="0">
              <a:solidFill>
                <a:srgbClr val="000000"/>
              </a:solidFill>
              <a:latin typeface="Bahnschrift Light SemiCondensed" panose="020B0502040204020203" pitchFamily="34" charset="0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 Black" panose="020B0A04020102020204" pitchFamily="34" charset="0"/>
                <a:ea typeface="ＭＳ Ｐゴシック"/>
              </a:rPr>
              <a:t>Theme-</a:t>
            </a:r>
            <a:r>
              <a:rPr lang="en-US" sz="2400" dirty="0">
                <a:latin typeface="Bahnschrift SemiBold Condensed" panose="020B0502040204020203" pitchFamily="34" charset="0"/>
              </a:rPr>
              <a:t>Smart Streets, Safer Solapur</a:t>
            </a:r>
            <a:endParaRPr lang="en-IN" sz="2400" b="0" strike="noStrike" spc="-1" dirty="0">
              <a:solidFill>
                <a:srgbClr val="000000"/>
              </a:solidFill>
              <a:latin typeface="Bahnschrift SemiBold Condensed" panose="020B0502040204020203" pitchFamily="34" charset="0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>
                <a:solidFill>
                  <a:schemeClr val="dk1"/>
                </a:solidFill>
                <a:latin typeface="Arial Black" panose="020B0A04020102020204" pitchFamily="34" charset="0"/>
                <a:ea typeface="ＭＳ Ｐゴシック"/>
              </a:rPr>
              <a:t>Team ID-</a:t>
            </a:r>
            <a:r>
              <a:rPr lang="en-US" sz="2400" b="1" spc="-1">
                <a:solidFill>
                  <a:schemeClr val="dk1"/>
                </a:solidFill>
                <a:latin typeface="Arial Black" panose="020B0A04020102020204" pitchFamily="34" charset="0"/>
                <a:ea typeface="ＭＳ Ｐゴシック"/>
              </a:rPr>
              <a:t>698346798b8527536642529a</a:t>
            </a:r>
            <a:endParaRPr lang="en-IN" sz="2400" b="0" strike="noStrike" spc="-1" dirty="0">
              <a:solidFill>
                <a:srgbClr val="000000"/>
              </a:solidFill>
              <a:latin typeface="Arial Black" panose="020B0A04020102020204" pitchFamily="34" charset="0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 Black" panose="020B0A04020102020204" pitchFamily="34" charset="0"/>
                <a:ea typeface="ＭＳ Ｐゴシック"/>
              </a:rPr>
              <a:t>Team Name </a:t>
            </a: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- </a:t>
            </a:r>
            <a:r>
              <a:rPr lang="en-US" sz="2400" b="1" strike="noStrike" spc="-1" dirty="0">
                <a:solidFill>
                  <a:schemeClr val="dk1"/>
                </a:solidFill>
                <a:latin typeface="Bahnschrift SemiBold" panose="020B0502040204020203" pitchFamily="34" charset="0"/>
                <a:ea typeface="ＭＳ Ｐゴシック"/>
              </a:rPr>
              <a:t>TEAM</a:t>
            </a:r>
            <a:r>
              <a:rPr lang="en-US" sz="2400" b="1" spc="-1" dirty="0">
                <a:solidFill>
                  <a:schemeClr val="dk1"/>
                </a:solidFill>
                <a:latin typeface="Bahnschrift SemiBold" panose="020B0502040204020203" pitchFamily="34" charset="0"/>
                <a:ea typeface="ＭＳ Ｐゴシック"/>
              </a:rPr>
              <a:t> VIKINGS</a:t>
            </a:r>
            <a:endParaRPr lang="en-IN" sz="2400" b="0" strike="noStrike" spc="-1" dirty="0">
              <a:solidFill>
                <a:srgbClr val="000000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60" name="Picture 59"/>
          <p:cNvPicPr/>
          <p:nvPr/>
        </p:nvPicPr>
        <p:blipFill>
          <a:blip r:embed="rId3"/>
          <a:stretch/>
        </p:blipFill>
        <p:spPr>
          <a:xfrm>
            <a:off x="8640000" y="1373040"/>
            <a:ext cx="3420000" cy="1326960"/>
          </a:xfrm>
          <a:prstGeom prst="rect">
            <a:avLst/>
          </a:prstGeom>
          <a:ln w="0">
            <a:noFill/>
          </a:ln>
        </p:spPr>
      </p:pic>
      <p:pic>
        <p:nvPicPr>
          <p:cNvPr id="61" name="Picture 60"/>
          <p:cNvPicPr/>
          <p:nvPr/>
        </p:nvPicPr>
        <p:blipFill>
          <a:blip r:embed="rId4"/>
          <a:stretch/>
        </p:blipFill>
        <p:spPr>
          <a:xfrm>
            <a:off x="8733240" y="3420000"/>
            <a:ext cx="3099960" cy="1260000"/>
          </a:xfrm>
          <a:prstGeom prst="rect">
            <a:avLst/>
          </a:prstGeom>
          <a:ln w="0">
            <a:noFill/>
          </a:ln>
        </p:spPr>
      </p:pic>
      <p:sp>
        <p:nvSpPr>
          <p:cNvPr id="2" name="Oval 9">
            <a:extLst>
              <a:ext uri="{FF2B5EF4-FFF2-40B4-BE49-F238E27FC236}">
                <a16:creationId xmlns:a16="http://schemas.microsoft.com/office/drawing/2014/main" id="{244BE962-1273-CC9F-FBEE-1FD79F4A264C}"/>
              </a:ext>
            </a:extLst>
          </p:cNvPr>
          <p:cNvSpPr/>
          <p:nvPr/>
        </p:nvSpPr>
        <p:spPr>
          <a:xfrm>
            <a:off x="76200" y="87135"/>
            <a:ext cx="1295400" cy="1123170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8"/>
          <p:cNvSpPr/>
          <p:nvPr/>
        </p:nvSpPr>
        <p:spPr>
          <a:xfrm>
            <a:off x="0" y="6398642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667000" y="-52440"/>
            <a:ext cx="5105400" cy="12954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algn="ctr" defTabSz="457200">
              <a:lnSpc>
                <a:spcPct val="200000"/>
              </a:lnSpc>
              <a:buClr>
                <a:srgbClr val="000000"/>
              </a:buClr>
            </a:pP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Bernard MT Condensed" panose="02050806060905020404" pitchFamily="18" charset="0"/>
              </a:rPr>
              <a:t>Smart Road Damage Reporting &amp; Rapid Response System for Solapur Municipal Corporation</a:t>
            </a:r>
            <a:endParaRPr lang="en-IN" sz="2000" b="0" strike="noStrike" spc="-1" dirty="0">
              <a:solidFill>
                <a:schemeClr val="tx2">
                  <a:lumMod val="50000"/>
                </a:schemeClr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4B43EC6-6A2F-4FEF-B416-2BF9BFF0B0D0}" type="slidenum">
              <a: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rPr>
              <a:t>2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Oval 9"/>
          <p:cNvSpPr/>
          <p:nvPr/>
        </p:nvSpPr>
        <p:spPr>
          <a:xfrm>
            <a:off x="12235" y="42144"/>
            <a:ext cx="1054565" cy="779870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Picture 66"/>
          <p:cNvPicPr/>
          <p:nvPr/>
        </p:nvPicPr>
        <p:blipFill>
          <a:blip r:embed="rId4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67"/>
          <p:cNvPicPr/>
          <p:nvPr/>
        </p:nvPicPr>
        <p:blipFill>
          <a:blip r:embed="rId5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FA649D-D591-3861-6A95-EB69F346E40C}"/>
              </a:ext>
            </a:extLst>
          </p:cNvPr>
          <p:cNvSpPr txBox="1"/>
          <p:nvPr/>
        </p:nvSpPr>
        <p:spPr>
          <a:xfrm>
            <a:off x="32555" y="1280652"/>
            <a:ext cx="12191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1️⃣ Smart Data Collection</a:t>
            </a:r>
          </a:p>
          <a:p>
            <a:r>
              <a:rPr lang="en-IN" sz="1400" dirty="0"/>
              <a:t>Sensors on vehicles &amp; roads detect potholes and bumps</a:t>
            </a:r>
          </a:p>
          <a:p>
            <a:r>
              <a:rPr lang="en-IN" sz="1400" dirty="0"/>
              <a:t>Uses smartphones &amp; public vehicles → low cost</a:t>
            </a:r>
          </a:p>
          <a:p>
            <a:r>
              <a:rPr lang="en-IN" sz="1400" b="1" dirty="0"/>
              <a:t>2️⃣ Real-Time AI Analysis</a:t>
            </a:r>
          </a:p>
          <a:p>
            <a:r>
              <a:rPr lang="en-IN" sz="1400" dirty="0"/>
              <a:t>Data sent to cloud instantly</a:t>
            </a:r>
          </a:p>
          <a:p>
            <a:r>
              <a:rPr lang="en-IN" sz="1400" dirty="0"/>
              <a:t>AI classifies roads: </a:t>
            </a:r>
            <a:r>
              <a:rPr lang="en-IN" sz="1400" b="1" dirty="0"/>
              <a:t>Good | Moderate | Poor</a:t>
            </a:r>
            <a:endParaRPr lang="en-IN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FFA8AC-A6DB-9069-757F-D0B7EB524E74}"/>
              </a:ext>
            </a:extLst>
          </p:cNvPr>
          <p:cNvSpPr txBox="1"/>
          <p:nvPr/>
        </p:nvSpPr>
        <p:spPr>
          <a:xfrm>
            <a:off x="4267200" y="1280652"/>
            <a:ext cx="3886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3️⃣ Live Map &amp; Dashboard</a:t>
            </a:r>
          </a:p>
          <a:p>
            <a:r>
              <a:rPr lang="en-IN" sz="1400" dirty="0"/>
              <a:t>Shows exact location, severity &amp; time of damage</a:t>
            </a:r>
          </a:p>
          <a:p>
            <a:r>
              <a:rPr lang="en-IN" sz="1400" dirty="0"/>
              <a:t>Helps plan faster, smarter repairs</a:t>
            </a:r>
          </a:p>
          <a:p>
            <a:r>
              <a:rPr lang="en-IN" sz="1400" b="1" dirty="0"/>
              <a:t>4️⃣ Alerts &amp; Preventive Action</a:t>
            </a:r>
          </a:p>
          <a:p>
            <a:r>
              <a:rPr lang="en-IN" sz="1400" dirty="0"/>
              <a:t>Instant alerts to authorities &amp; repair teams</a:t>
            </a:r>
          </a:p>
          <a:p>
            <a:r>
              <a:rPr lang="en-IN" sz="1400" dirty="0"/>
              <a:t>Fixes roads </a:t>
            </a:r>
            <a:r>
              <a:rPr lang="en-IN" sz="1400" b="1" dirty="0"/>
              <a:t>before accidents happen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907BEB-853B-F100-7903-8D54D00A6B9F}"/>
              </a:ext>
            </a:extLst>
          </p:cNvPr>
          <p:cNvSpPr txBox="1"/>
          <p:nvPr/>
        </p:nvSpPr>
        <p:spPr>
          <a:xfrm>
            <a:off x="8153400" y="1280652"/>
            <a:ext cx="46405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5️⃣ Public Safety &amp; Smart Cities</a:t>
            </a:r>
          </a:p>
          <a:p>
            <a:r>
              <a:rPr lang="en-IN" sz="1400" dirty="0"/>
              <a:t>Integrates with navigation apps</a:t>
            </a:r>
          </a:p>
          <a:p>
            <a:r>
              <a:rPr lang="en-IN" sz="1400" dirty="0"/>
              <a:t>Safer travel, smoother roads, longer road life.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B8C6D2-A3A5-18DC-C531-3CFC612FCDEC}"/>
              </a:ext>
            </a:extLst>
          </p:cNvPr>
          <p:cNvSpPr txBox="1"/>
          <p:nvPr/>
        </p:nvSpPr>
        <p:spPr>
          <a:xfrm>
            <a:off x="0" y="2562251"/>
            <a:ext cx="639572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b="1" u="sng" dirty="0">
                <a:latin typeface="Engravers MT" panose="02090707080505020304" pitchFamily="18" charset="0"/>
              </a:rPr>
              <a:t>ADRESSING THE PROBLEM </a:t>
            </a:r>
          </a:p>
          <a:p>
            <a:r>
              <a:rPr lang="en-IN" sz="1400" b="1" dirty="0"/>
              <a:t>1️⃣ Early Detection</a:t>
            </a:r>
          </a:p>
          <a:p>
            <a:r>
              <a:rPr lang="en-IN" sz="1400" dirty="0"/>
              <a:t>Detects potholes &amp; cracks early                             </a:t>
            </a:r>
            <a:br>
              <a:rPr lang="en-IN" sz="1400" dirty="0"/>
            </a:br>
            <a:r>
              <a:rPr lang="en-IN" sz="1400" b="1" dirty="0"/>
              <a:t>→ Prevents accidents &amp; major damage</a:t>
            </a:r>
            <a:endParaRPr lang="en-IN" sz="1400" dirty="0"/>
          </a:p>
          <a:p>
            <a:r>
              <a:rPr lang="en-IN" sz="1400" b="1" dirty="0"/>
              <a:t>2️⃣ Automated Monitoring</a:t>
            </a:r>
          </a:p>
          <a:p>
            <a:r>
              <a:rPr lang="en-IN" sz="1400" dirty="0"/>
              <a:t>Sensors &amp; cameras monitor continuously</a:t>
            </a:r>
            <a:br>
              <a:rPr lang="en-IN" sz="1400" dirty="0"/>
            </a:br>
            <a:r>
              <a:rPr lang="en-IN" sz="1400" b="1" dirty="0"/>
              <a:t>→ Faster, accurate road checks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8D94E8-301A-D29A-C91B-A1E80276D76D}"/>
              </a:ext>
            </a:extLst>
          </p:cNvPr>
          <p:cNvSpPr txBox="1"/>
          <p:nvPr/>
        </p:nvSpPr>
        <p:spPr>
          <a:xfrm>
            <a:off x="3048000" y="2905378"/>
            <a:ext cx="64211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3️⃣ Smart Repairs</a:t>
            </a:r>
          </a:p>
          <a:p>
            <a:r>
              <a:rPr lang="en-IN" sz="1400" dirty="0"/>
              <a:t>GPS &amp; severity info guide maintenance</a:t>
            </a:r>
            <a:br>
              <a:rPr lang="en-IN" sz="1400" dirty="0"/>
            </a:br>
            <a:r>
              <a:rPr lang="en-IN" sz="1400" b="1" dirty="0"/>
              <a:t>→ Quick &amp; cost-effective repairs</a:t>
            </a:r>
            <a:endParaRPr lang="en-IN" sz="1400" dirty="0"/>
          </a:p>
          <a:p>
            <a:r>
              <a:rPr lang="en-IN" sz="1400" b="1" dirty="0"/>
              <a:t>4️⃣ Safer Roads</a:t>
            </a:r>
          </a:p>
          <a:p>
            <a:r>
              <a:rPr lang="en-IN" sz="1400" dirty="0"/>
              <a:t>Real-time alerts for sudden damage</a:t>
            </a:r>
            <a:br>
              <a:rPr lang="en-IN" sz="1400" dirty="0"/>
            </a:br>
            <a:r>
              <a:rPr lang="en-IN" sz="1400" b="1" dirty="0"/>
              <a:t>→ Fewer accidents &amp; vehicle damage</a:t>
            </a:r>
            <a:endParaRPr lang="en-IN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4ACE48-49F7-545E-9A56-3F59EDBD5F46}"/>
              </a:ext>
            </a:extLst>
          </p:cNvPr>
          <p:cNvSpPr txBox="1"/>
          <p:nvPr/>
        </p:nvSpPr>
        <p:spPr>
          <a:xfrm>
            <a:off x="41732" y="3633226"/>
            <a:ext cx="642112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b="1" u="sng" dirty="0">
                <a:latin typeface="Engravers MT" panose="02090707080505020304" pitchFamily="18" charset="0"/>
              </a:rPr>
              <a:t>Innovation &amp; Uniqueness of the Solution</a:t>
            </a:r>
          </a:p>
          <a:p>
            <a:pPr>
              <a:buNone/>
            </a:pPr>
            <a:r>
              <a:rPr lang="en-US" sz="1400" b="1" dirty="0"/>
              <a:t>1️⃣ Roads That Report Themselves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Sensors automatically detect road damage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No need to wait for public complaints</a:t>
            </a:r>
          </a:p>
          <a:p>
            <a:pPr>
              <a:buNone/>
            </a:pPr>
            <a:r>
              <a:rPr lang="en-US" sz="1400" b="1" dirty="0"/>
              <a:t>2️⃣ Real-Time, Not After Damage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Detects potholes as soon as they appear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Prevents accidents before they happen</a:t>
            </a:r>
          </a:p>
          <a:p>
            <a:pPr>
              <a:buNone/>
            </a:pPr>
            <a:r>
              <a:rPr lang="en-US" sz="1400" b="1" dirty="0"/>
              <a:t>3️⃣ Built for People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Reduces accidents, vehicle damage &amp; travel stress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Improves daily travel experience for everyone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1A8855-0A20-196D-570B-28ED48EAEDC5}"/>
              </a:ext>
            </a:extLst>
          </p:cNvPr>
          <p:cNvSpPr txBox="1"/>
          <p:nvPr/>
        </p:nvSpPr>
        <p:spPr>
          <a:xfrm>
            <a:off x="152400" y="98149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>
                <a:latin typeface="Engravers MT" panose="02090707080505020304" pitchFamily="18" charset="0"/>
              </a:rPr>
              <a:t>Solution</a:t>
            </a:r>
            <a:endParaRPr lang="en-IN" b="1" u="sng" dirty="0">
              <a:latin typeface="Engravers MT" panose="0209070708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47FEB8-0BBA-02F7-031D-46FF444FA4B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236" y="2503810"/>
            <a:ext cx="4414564" cy="38527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-381000" y="23238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 dirty="0">
                <a:solidFill>
                  <a:schemeClr val="dk1"/>
                </a:solidFill>
                <a:latin typeface="Times New Roman"/>
                <a:ea typeface="ＭＳ Ｐゴシック"/>
              </a:rPr>
              <a:t>TECHNICAL APPROACH</a:t>
            </a:r>
            <a:endParaRPr lang="en-IN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8"/>
          <p:cNvSpPr/>
          <p:nvPr/>
        </p:nvSpPr>
        <p:spPr>
          <a:xfrm>
            <a:off x="0" y="1272423"/>
            <a:ext cx="11957400" cy="5261525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u="sng" dirty="0">
                <a:latin typeface="Engravers MT" panose="02090707080505020304" pitchFamily="18" charset="0"/>
              </a:rPr>
              <a:t>Technologies Used in the Road Condition Monitoring System</a:t>
            </a:r>
          </a:p>
          <a:p>
            <a:r>
              <a:rPr lang="en-IN" sz="1400" b="1" dirty="0"/>
              <a:t>1️⃣ Hardware</a:t>
            </a:r>
          </a:p>
          <a:p>
            <a:r>
              <a:rPr lang="en-IN" sz="1400" dirty="0"/>
              <a:t>Sensors &amp; gyroscope → detect bumps &amp; vibrations</a:t>
            </a:r>
          </a:p>
          <a:p>
            <a:r>
              <a:rPr lang="en-IN" sz="1400" dirty="0"/>
              <a:t>Cameras → capture potholes &amp; cracks</a:t>
            </a:r>
          </a:p>
          <a:p>
            <a:r>
              <a:rPr lang="en-IN" sz="1400" dirty="0"/>
              <a:t>GPS → tracks exact locations</a:t>
            </a:r>
          </a:p>
          <a:p>
            <a:r>
              <a:rPr lang="en-IN" sz="1400" dirty="0"/>
              <a:t>Edge/IoT devices → collect &amp; send data</a:t>
            </a:r>
          </a:p>
          <a:p>
            <a:r>
              <a:rPr lang="en-IN" sz="1400" b="1" dirty="0"/>
              <a:t>2️⃣ Software &amp; Programming</a:t>
            </a:r>
          </a:p>
          <a:p>
            <a:r>
              <a:rPr lang="en-IN" sz="1400" dirty="0"/>
              <a:t>Python / C++ → controls sensors &amp; processes data</a:t>
            </a:r>
          </a:p>
          <a:p>
            <a:r>
              <a:rPr lang="en-IN" sz="1400" dirty="0"/>
              <a:t>OpenCV → detects road damage from images</a:t>
            </a:r>
          </a:p>
          <a:p>
            <a:r>
              <a:rPr lang="en-IN" sz="1400" dirty="0"/>
              <a:t>AI/ML → classifies damage automatically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400" b="0" strike="noStrike" spc="-1" dirty="0">
              <a:solidFill>
                <a:schemeClr val="dk1"/>
              </a:solidFill>
              <a:latin typeface="Arial"/>
              <a:ea typeface="ＭＳ Ｐゴシック"/>
            </a:endParaRPr>
          </a:p>
          <a:p>
            <a:pPr marL="343080" indent="-343080" algn="just" defTabSz="457200">
              <a:buClr>
                <a:srgbClr val="000000"/>
              </a:buClr>
              <a:buFont typeface="Wingdings" panose="05000000000000000000" pitchFamily="2" charset="2"/>
              <a:buChar char="v"/>
            </a:pPr>
            <a:r>
              <a:rPr lang="en-US" sz="2400" b="1" u="sng" spc="-1" dirty="0">
                <a:solidFill>
                  <a:schemeClr val="dk1"/>
                </a:solidFill>
                <a:latin typeface="Engravers MT" panose="02090707080505020304" pitchFamily="18" charset="0"/>
                <a:ea typeface="ＭＳ Ｐゴシック"/>
              </a:rPr>
              <a:t>Methodology</a:t>
            </a:r>
            <a:r>
              <a:rPr lang="en-US" spc="-1" dirty="0">
                <a:solidFill>
                  <a:schemeClr val="dk1"/>
                </a:solidFill>
                <a:latin typeface="Engravers MT" panose="02090707080505020304" pitchFamily="18" charset="0"/>
                <a:ea typeface="ＭＳ Ｐゴシック"/>
              </a:rPr>
              <a:t> 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400" spc="-1" dirty="0">
              <a:solidFill>
                <a:schemeClr val="dk1"/>
              </a:solidFill>
              <a:latin typeface="Arial"/>
              <a:ea typeface="ＭＳ Ｐゴシック"/>
            </a:endParaRPr>
          </a:p>
          <a:p>
            <a:r>
              <a:rPr lang="en-IN" sz="1400" b="1" dirty="0"/>
              <a:t>1️⃣ Data Collection</a:t>
            </a:r>
          </a:p>
          <a:p>
            <a:r>
              <a:rPr lang="en-IN" sz="1400" dirty="0"/>
              <a:t>Sensors &amp; cameras detect bumps, cracks, and potholes</a:t>
            </a:r>
          </a:p>
          <a:p>
            <a:r>
              <a:rPr lang="en-IN" sz="1400" dirty="0"/>
              <a:t>GPS records exact location</a:t>
            </a:r>
          </a:p>
          <a:p>
            <a:r>
              <a:rPr lang="en-IN" sz="1400" b="1" dirty="0"/>
              <a:t>2️⃣ Data Transmission</a:t>
            </a:r>
          </a:p>
          <a:p>
            <a:r>
              <a:rPr lang="en-IN" sz="1400" dirty="0"/>
              <a:t>Real-time upload via 4G/5G or IoT networks</a:t>
            </a:r>
          </a:p>
          <a:p>
            <a:r>
              <a:rPr lang="en-IN" sz="1400" b="1" dirty="0"/>
              <a:t>3️⃣ Data Processing &amp; Analysis</a:t>
            </a:r>
          </a:p>
          <a:p>
            <a:r>
              <a:rPr lang="en-IN" sz="1400" dirty="0"/>
              <a:t>AI/ML classifies road condition: Good / Moderate / Poor</a:t>
            </a:r>
          </a:p>
          <a:p>
            <a:r>
              <a:rPr lang="en-IN" sz="1400" dirty="0"/>
              <a:t>Automatic detection of potholes &amp; cracks</a:t>
            </a: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endParaRPr lang="en-US" sz="1400" spc="-1" dirty="0">
              <a:solidFill>
                <a:schemeClr val="dk1"/>
              </a:solidFill>
              <a:latin typeface="Arial"/>
              <a:ea typeface="ＭＳ Ｐゴシック"/>
            </a:endParaRP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endParaRPr lang="en-US" sz="1400" b="0" strike="noStrike" spc="-1" dirty="0">
              <a:solidFill>
                <a:schemeClr val="dk1"/>
              </a:solidFill>
              <a:latin typeface="Arial"/>
              <a:ea typeface="ＭＳ Ｐゴシック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3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897DFA0-2B89-4689-95EA-35970505E89A}" type="slidenum">
              <a: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rPr>
              <a:t>3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4" name="Picture 73"/>
          <p:cNvPicPr/>
          <p:nvPr/>
        </p:nvPicPr>
        <p:blipFill>
          <a:blip r:embed="rId3"/>
          <a:stretch/>
        </p:blipFill>
        <p:spPr>
          <a:xfrm>
            <a:off x="10081935" y="172228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75" name="Picture 74"/>
          <p:cNvPicPr/>
          <p:nvPr/>
        </p:nvPicPr>
        <p:blipFill>
          <a:blip r:embed="rId4"/>
          <a:stretch/>
        </p:blipFill>
        <p:spPr>
          <a:xfrm>
            <a:off x="8280000" y="108000"/>
            <a:ext cx="1716120" cy="697320"/>
          </a:xfrm>
          <a:prstGeom prst="rect">
            <a:avLst/>
          </a:prstGeom>
          <a:ln w="0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4B023B-10FA-AFF3-835B-0218E36B13E9}"/>
              </a:ext>
            </a:extLst>
          </p:cNvPr>
          <p:cNvSpPr txBox="1"/>
          <p:nvPr/>
        </p:nvSpPr>
        <p:spPr>
          <a:xfrm>
            <a:off x="4248344" y="1683614"/>
            <a:ext cx="74736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3️⃣ Cloud &amp; Data Management</a:t>
            </a:r>
          </a:p>
          <a:p>
            <a:r>
              <a:rPr lang="en-IN" sz="1400" dirty="0"/>
              <a:t>Cloud platforms → store &amp; process data</a:t>
            </a:r>
          </a:p>
          <a:p>
            <a:r>
              <a:rPr lang="en-IN" sz="1400" dirty="0"/>
              <a:t>Databases → manage road records</a:t>
            </a:r>
          </a:p>
          <a:p>
            <a:r>
              <a:rPr lang="en-IN" sz="1400" dirty="0"/>
              <a:t>APIs → integrate with apps &amp; dashboards</a:t>
            </a:r>
          </a:p>
          <a:p>
            <a:r>
              <a:rPr lang="en-IN" sz="1400" b="1" dirty="0"/>
              <a:t>4️⃣ Mobile &amp; Web Interface</a:t>
            </a:r>
          </a:p>
          <a:p>
            <a:r>
              <a:rPr lang="en-IN" sz="1400" dirty="0"/>
              <a:t>Dashboards → monitor road conditions</a:t>
            </a:r>
          </a:p>
          <a:p>
            <a:r>
              <a:rPr lang="en-IN" sz="1400" dirty="0"/>
              <a:t>Mobile apps → alert drivers about hazards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9ACE11-67B4-2958-29FA-F562F8D13D4E}"/>
              </a:ext>
            </a:extLst>
          </p:cNvPr>
          <p:cNvSpPr txBox="1"/>
          <p:nvPr/>
        </p:nvSpPr>
        <p:spPr>
          <a:xfrm>
            <a:off x="7772400" y="1737558"/>
            <a:ext cx="3048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5️⃣ Connectivity &amp; IoT</a:t>
            </a:r>
          </a:p>
          <a:p>
            <a:r>
              <a:rPr lang="en-IN" sz="1400" dirty="0"/>
              <a:t>4G/5G or LoRaWAN → real-time data transmission</a:t>
            </a:r>
          </a:p>
          <a:p>
            <a:r>
              <a:rPr lang="en-IN" sz="1400" dirty="0"/>
              <a:t>Edge computing → faster local processing</a:t>
            </a:r>
            <a:endParaRPr lang="en-US" sz="1400" spc="-1" dirty="0">
              <a:solidFill>
                <a:schemeClr val="dk1"/>
              </a:solidFill>
              <a:latin typeface="Arial"/>
              <a:ea typeface="ＭＳ Ｐゴシック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F1B053-9C59-727E-8366-39C8B46B8A0F}"/>
              </a:ext>
            </a:extLst>
          </p:cNvPr>
          <p:cNvSpPr txBox="1"/>
          <p:nvPr/>
        </p:nvSpPr>
        <p:spPr>
          <a:xfrm>
            <a:off x="4114800" y="4343400"/>
            <a:ext cx="34607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4️⃣ Visualization &amp; Alerts</a:t>
            </a:r>
          </a:p>
          <a:p>
            <a:r>
              <a:rPr lang="en-IN" sz="1400" dirty="0"/>
              <a:t>Live dashboard for authorities</a:t>
            </a:r>
          </a:p>
          <a:p>
            <a:r>
              <a:rPr lang="en-IN" sz="1400" dirty="0"/>
              <a:t>Mobile alerts for drivers</a:t>
            </a:r>
          </a:p>
          <a:p>
            <a:r>
              <a:rPr lang="en-IN" sz="1400" b="1" dirty="0"/>
              <a:t>5️⃣ Maintenance &amp; Feedback</a:t>
            </a:r>
          </a:p>
          <a:p>
            <a:r>
              <a:rPr lang="en-IN" sz="1400" dirty="0"/>
              <a:t>Repairs planned based on severity &amp; location</a:t>
            </a:r>
          </a:p>
          <a:p>
            <a:r>
              <a:rPr lang="en-IN" sz="1400" dirty="0"/>
              <a:t>Post-repair verification ensures quality</a:t>
            </a:r>
          </a:p>
        </p:txBody>
      </p:sp>
      <p:sp>
        <p:nvSpPr>
          <p:cNvPr id="2" name="Oval 9">
            <a:extLst>
              <a:ext uri="{FF2B5EF4-FFF2-40B4-BE49-F238E27FC236}">
                <a16:creationId xmlns:a16="http://schemas.microsoft.com/office/drawing/2014/main" id="{692D9EDA-202C-AC31-44DE-5B6F2860FA99}"/>
              </a:ext>
            </a:extLst>
          </p:cNvPr>
          <p:cNvSpPr/>
          <p:nvPr/>
        </p:nvSpPr>
        <p:spPr>
          <a:xfrm>
            <a:off x="305520" y="95801"/>
            <a:ext cx="1295400" cy="1123170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130335-84F9-C160-039A-9F2615AC0A5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3119214"/>
            <a:ext cx="4690243" cy="32087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20000" y="-62280"/>
            <a:ext cx="882000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solidFill>
                  <a:schemeClr val="dk1"/>
                </a:solidFill>
                <a:latin typeface="Times New Roman"/>
                <a:ea typeface="ＭＳ Ｐゴシック"/>
              </a:rPr>
              <a:t>FEASIBILITY AND VIABILITY</a:t>
            </a: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75900" y="1190098"/>
            <a:ext cx="12039600" cy="5384636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b="1" u="sng" dirty="0">
                <a:latin typeface="Engravers MT" panose="02090707080505020304" pitchFamily="18" charset="0"/>
              </a:rPr>
              <a:t>Feasibility Analysis</a:t>
            </a:r>
          </a:p>
          <a:p>
            <a:r>
              <a:rPr lang="en-IN" sz="1400" b="1" dirty="0"/>
              <a:t>1️⃣ Technical</a:t>
            </a:r>
          </a:p>
          <a:p>
            <a:r>
              <a:rPr lang="en-IN" sz="1400" dirty="0"/>
              <a:t>Uses mature sensors, cameras, GPS, and AI/ML — ready to deploy</a:t>
            </a:r>
          </a:p>
          <a:p>
            <a:r>
              <a:rPr lang="en-IN" sz="1400" b="1" dirty="0"/>
              <a:t>2️⃣ Economic</a:t>
            </a:r>
          </a:p>
          <a:p>
            <a:r>
              <a:rPr lang="en-IN" sz="1400" dirty="0"/>
              <a:t>Sensors on existing vehicles; AI prioritizes repairs → cost-effective</a:t>
            </a:r>
          </a:p>
          <a:p>
            <a:r>
              <a:rPr lang="en-IN" sz="1400" b="1" dirty="0"/>
              <a:t>5️⃣ Scalability</a:t>
            </a:r>
          </a:p>
          <a:p>
            <a:r>
              <a:rPr lang="en-IN" sz="1400" dirty="0"/>
              <a:t>Modular system; can expand city-wide with cloud &amp; IoT</a:t>
            </a:r>
          </a:p>
          <a:p>
            <a:endParaRPr lang="en-US" sz="1600" spc="-1" dirty="0">
              <a:solidFill>
                <a:srgbClr val="000000"/>
              </a:solidFill>
              <a:latin typeface="Arial"/>
              <a:ea typeface="ＭＳ Ｐゴシック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b="1" u="sng" dirty="0">
                <a:latin typeface="Engravers MT" panose="02090707080505020304" pitchFamily="18" charset="0"/>
              </a:rPr>
              <a:t>Potential Challenges &amp; Risks</a:t>
            </a:r>
          </a:p>
          <a:p>
            <a:r>
              <a:rPr lang="en-US" sz="1400" b="1" dirty="0"/>
              <a:t>1️⃣ Sensor Accuracy</a:t>
            </a:r>
          </a:p>
          <a:p>
            <a:r>
              <a:rPr lang="en-US" sz="1400" dirty="0"/>
              <a:t>Environmental factors can cause false or missed detections → reliability issues</a:t>
            </a:r>
          </a:p>
          <a:p>
            <a:r>
              <a:rPr lang="en-US" sz="1400" b="1" dirty="0"/>
              <a:t>2️⃣ Data Privacy &amp; Security</a:t>
            </a:r>
          </a:p>
          <a:p>
            <a:r>
              <a:rPr lang="en-US" sz="1400" dirty="0"/>
              <a:t>Location &amp; road images must be protected with encryption and secure access</a:t>
            </a:r>
          </a:p>
          <a:p>
            <a:r>
              <a:rPr lang="en-US" sz="1400" b="1" dirty="0"/>
              <a:t>3️⃣ Connectivity Issues</a:t>
            </a:r>
          </a:p>
          <a:p>
            <a:r>
              <a:rPr lang="en-US" sz="1400" dirty="0"/>
              <a:t>Weak 4G/5G or IoT coverage may delay real-time alerts</a:t>
            </a:r>
          </a:p>
          <a:p>
            <a:r>
              <a:rPr lang="en-US" sz="1400" b="1" dirty="0"/>
              <a:t>4️⃣ High Setup Cost</a:t>
            </a:r>
          </a:p>
          <a:p>
            <a:r>
              <a:rPr lang="en-US" sz="1400" dirty="0"/>
              <a:t>Installing sensors &amp; devices city-wide needs significant investment</a:t>
            </a:r>
          </a:p>
          <a:p>
            <a:r>
              <a:rPr lang="en-US" sz="1400" b="1" dirty="0"/>
              <a:t>5️⃣ Maintenance &amp; Updates</a:t>
            </a:r>
          </a:p>
          <a:p>
            <a:r>
              <a:rPr lang="en-US" sz="1400" dirty="0"/>
              <a:t>Sensors and AI models require regular maintenance and software updates</a:t>
            </a: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endParaRPr lang="en-IN" sz="2800" spc="-1" dirty="0">
              <a:solidFill>
                <a:srgbClr val="000000"/>
              </a:solidFill>
              <a:latin typeface="Arial"/>
              <a:ea typeface="ＭＳ Ｐゴシック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2800" b="0" strike="noStrike" spc="-1" dirty="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C2B4984-A851-437F-9FF6-020B4ADC801A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rPr>
              <a:t>4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1" name="Picture 80"/>
          <p:cNvPicPr/>
          <p:nvPr/>
        </p:nvPicPr>
        <p:blipFill>
          <a:blip r:embed="rId3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82" name="Picture 81"/>
          <p:cNvPicPr/>
          <p:nvPr/>
        </p:nvPicPr>
        <p:blipFill>
          <a:blip r:embed="rId4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CCAC47-0884-F6E3-F233-775BCC7569C3}"/>
              </a:ext>
            </a:extLst>
          </p:cNvPr>
          <p:cNvSpPr txBox="1"/>
          <p:nvPr/>
        </p:nvSpPr>
        <p:spPr>
          <a:xfrm>
            <a:off x="6095700" y="1598836"/>
            <a:ext cx="5791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3️⃣ Operational</a:t>
            </a:r>
          </a:p>
          <a:p>
            <a:r>
              <a:rPr lang="en-IN" sz="1400" dirty="0"/>
              <a:t>Integrates with municipal workflows; real-time alerts for faster action</a:t>
            </a:r>
          </a:p>
          <a:p>
            <a:r>
              <a:rPr lang="en-IN" sz="1400" b="1" dirty="0"/>
              <a:t>4️⃣ Social</a:t>
            </a:r>
          </a:p>
          <a:p>
            <a:r>
              <a:rPr lang="en-IN" sz="1400" dirty="0"/>
              <a:t>Safer roads → fewer accidents, protected vehicles, happier commuters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82AF2B-3451-F63A-9911-EE07CB714683}"/>
              </a:ext>
            </a:extLst>
          </p:cNvPr>
          <p:cNvSpPr txBox="1"/>
          <p:nvPr/>
        </p:nvSpPr>
        <p:spPr>
          <a:xfrm>
            <a:off x="6248400" y="2925071"/>
            <a:ext cx="60957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000" b="1" u="sng" dirty="0">
                <a:latin typeface="Engravers MT" panose="02090707080505020304" pitchFamily="18" charset="0"/>
              </a:rPr>
              <a:t>Strategies to Overcome Challenges</a:t>
            </a:r>
          </a:p>
          <a:p>
            <a:r>
              <a:rPr lang="en-IN" sz="1400" b="1" dirty="0"/>
              <a:t>1️⃣ Sensor Accuracy</a:t>
            </a:r>
          </a:p>
          <a:p>
            <a:r>
              <a:rPr lang="en-IN" sz="1400" dirty="0"/>
              <a:t>Combine sensors + AI filtering &amp; regular calibration → reduce false alerts</a:t>
            </a:r>
          </a:p>
          <a:p>
            <a:r>
              <a:rPr lang="en-IN" sz="1400" b="1" dirty="0"/>
              <a:t>2️⃣ Data Privacy &amp; Security</a:t>
            </a:r>
          </a:p>
          <a:p>
            <a:r>
              <a:rPr lang="en-IN" sz="1400" dirty="0"/>
              <a:t>Encrypt data, control access, anonymize visuals → protect user privacy</a:t>
            </a:r>
          </a:p>
          <a:p>
            <a:r>
              <a:rPr lang="en-IN" sz="1400" b="1" dirty="0"/>
              <a:t>3️⃣ Connectivity Issues</a:t>
            </a:r>
          </a:p>
          <a:p>
            <a:r>
              <a:rPr lang="en-IN" sz="1400" dirty="0"/>
              <a:t>Store data locally when offline &amp; auto-upload later → no missed alerts</a:t>
            </a:r>
          </a:p>
          <a:p>
            <a:r>
              <a:rPr lang="en-IN" sz="1400" b="1" dirty="0"/>
              <a:t>4️⃣ High Setup Cost</a:t>
            </a:r>
          </a:p>
          <a:p>
            <a:r>
              <a:rPr lang="en-IN" sz="1400" dirty="0"/>
              <a:t>Use existing vehicles/devices, start small → scale smartly</a:t>
            </a:r>
          </a:p>
          <a:p>
            <a:r>
              <a:rPr lang="en-IN" sz="1400" b="1" dirty="0"/>
              <a:t>5️⃣ Maintenance &amp; Updates</a:t>
            </a:r>
          </a:p>
          <a:p>
            <a:r>
              <a:rPr lang="en-IN" sz="1400" dirty="0"/>
              <a:t>Regular hardware checks + cloud-based software updates → smooth operation</a:t>
            </a:r>
          </a:p>
        </p:txBody>
      </p:sp>
      <p:sp>
        <p:nvSpPr>
          <p:cNvPr id="2" name="Oval 9">
            <a:extLst>
              <a:ext uri="{FF2B5EF4-FFF2-40B4-BE49-F238E27FC236}">
                <a16:creationId xmlns:a16="http://schemas.microsoft.com/office/drawing/2014/main" id="{946253A4-23C2-3AFA-9E72-B4B069CBB01C}"/>
              </a:ext>
            </a:extLst>
          </p:cNvPr>
          <p:cNvSpPr/>
          <p:nvPr/>
        </p:nvSpPr>
        <p:spPr>
          <a:xfrm>
            <a:off x="75900" y="108360"/>
            <a:ext cx="1295400" cy="1123170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 dirty="0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-228600" y="-35359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solidFill>
                  <a:schemeClr val="dk1"/>
                </a:solidFill>
                <a:latin typeface="Times New Roman"/>
                <a:ea typeface="ＭＳ Ｐゴシック"/>
              </a:rPr>
              <a:t>IMPACT AND BENEFITS</a:t>
            </a: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114300" y="1154722"/>
            <a:ext cx="11963400" cy="5246136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u="sng" dirty="0">
                <a:latin typeface="Engravers MT" panose="02090707080505020304" pitchFamily="18" charset="0"/>
              </a:rPr>
              <a:t>Potential Impact on the Target Audience</a:t>
            </a:r>
          </a:p>
          <a:p>
            <a:r>
              <a:rPr lang="en-IN" sz="2000" dirty="0"/>
              <a:t>🚗 </a:t>
            </a:r>
            <a:r>
              <a:rPr lang="en-IN" sz="2000" b="1" dirty="0"/>
              <a:t>Drivers &amp; Commuters</a:t>
            </a:r>
            <a:r>
              <a:rPr lang="en-IN" sz="2000" dirty="0"/>
              <a:t> – Avoid potholes &amp; bumps → fewer accidents, less vehicle damage, smoother rides</a:t>
            </a:r>
          </a:p>
          <a:p>
            <a:r>
              <a:rPr lang="en-IN" sz="2000" dirty="0"/>
              <a:t>🏫 </a:t>
            </a:r>
            <a:r>
              <a:rPr lang="en-IN" sz="2000" b="1" dirty="0"/>
              <a:t>Students &amp; Professionals</a:t>
            </a:r>
            <a:r>
              <a:rPr lang="en-IN" sz="2000" dirty="0"/>
              <a:t> – Reliable roads → safer, faster, stress-free daily travel</a:t>
            </a:r>
          </a:p>
          <a:p>
            <a:r>
              <a:rPr lang="en-IN" sz="2000" dirty="0"/>
              <a:t>🏛️ </a:t>
            </a:r>
            <a:r>
              <a:rPr lang="en-IN" sz="2000" b="1" dirty="0"/>
              <a:t>Authorities &amp; Maintenance Teams</a:t>
            </a:r>
            <a:r>
              <a:rPr lang="en-IN" sz="2000" dirty="0"/>
              <a:t> – Real-time data → smarter repairs, faster decisions, better use of funds</a:t>
            </a:r>
          </a:p>
          <a:p>
            <a:r>
              <a:rPr lang="en-IN" sz="2000" dirty="0"/>
              <a:t>🚑 </a:t>
            </a:r>
            <a:r>
              <a:rPr lang="en-IN" sz="2000" b="1" dirty="0"/>
              <a:t>Emergency Services</a:t>
            </a:r>
            <a:r>
              <a:rPr lang="en-IN" sz="2000" dirty="0"/>
              <a:t> – Safer roads → quicker response times</a:t>
            </a:r>
          </a:p>
          <a:p>
            <a:r>
              <a:rPr lang="en-IN" sz="2000" dirty="0"/>
              <a:t>🌍 </a:t>
            </a:r>
            <a:r>
              <a:rPr lang="en-IN" sz="2000" b="1" dirty="0"/>
              <a:t>Society</a:t>
            </a:r>
            <a:r>
              <a:rPr lang="en-IN" sz="2000" dirty="0"/>
              <a:t> – Less congestion &amp; pollution → safer cities, improved quality of life</a:t>
            </a:r>
            <a:endParaRPr lang="en-US" sz="2800" b="0" strike="noStrike" spc="-1" dirty="0">
              <a:solidFill>
                <a:srgbClr val="000000"/>
              </a:solidFill>
              <a:latin typeface="Arial"/>
              <a:ea typeface="ＭＳ Ｐゴシック"/>
            </a:endParaRPr>
          </a:p>
          <a:p>
            <a:endParaRPr lang="en-US" sz="1100" b="1" dirty="0"/>
          </a:p>
          <a:p>
            <a:endParaRPr lang="en-US" sz="2000" b="1" dirty="0">
              <a:latin typeface="Algerian" panose="04020705040A02060702" pitchFamily="8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u="sng" dirty="0">
                <a:latin typeface="Engravers MT" panose="02090707080505020304" pitchFamily="18" charset="0"/>
              </a:rPr>
              <a:t>Benefits of the Road Condition Monitoring System</a:t>
            </a:r>
          </a:p>
          <a:p>
            <a:r>
              <a:rPr lang="en-US" sz="2000" dirty="0"/>
              <a:t>🌟 </a:t>
            </a:r>
            <a:r>
              <a:rPr lang="en-US" sz="2000" b="1" dirty="0"/>
              <a:t>Social</a:t>
            </a:r>
            <a:r>
              <a:rPr lang="en-US" sz="2000" dirty="0"/>
              <a:t> – Safer roads, smoother commutes, more public trust</a:t>
            </a:r>
            <a:br>
              <a:rPr lang="en-US" sz="2000" dirty="0"/>
            </a:br>
            <a:r>
              <a:rPr lang="en-US" sz="2000" b="1" dirty="0"/>
              <a:t>Catchline:</a:t>
            </a:r>
            <a:r>
              <a:rPr lang="en-US" sz="2000" dirty="0"/>
              <a:t> “Safer roads, happier journeys.”</a:t>
            </a:r>
          </a:p>
          <a:p>
            <a:r>
              <a:rPr lang="en-US" sz="2000" dirty="0"/>
              <a:t>💰 </a:t>
            </a:r>
            <a:r>
              <a:rPr lang="en-US" sz="2000" b="1" dirty="0"/>
              <a:t>Economic</a:t>
            </a:r>
            <a:r>
              <a:rPr lang="en-US" sz="2000" dirty="0"/>
              <a:t> – Lower repair costs, fewer vehicle damages, saved time</a:t>
            </a:r>
            <a:br>
              <a:rPr lang="en-US" sz="2000" dirty="0"/>
            </a:br>
            <a:r>
              <a:rPr lang="en-US" sz="2000" b="1" dirty="0"/>
              <a:t>Catchline:</a:t>
            </a:r>
            <a:r>
              <a:rPr lang="en-US" sz="2000" dirty="0"/>
              <a:t> “Save money, save time.”</a:t>
            </a:r>
          </a:p>
          <a:p>
            <a:r>
              <a:rPr lang="en-US" sz="2000" dirty="0"/>
              <a:t>🌍 </a:t>
            </a:r>
            <a:r>
              <a:rPr lang="en-US" sz="2000" b="1" dirty="0"/>
              <a:t>Environmental</a:t>
            </a:r>
            <a:r>
              <a:rPr lang="en-US" sz="2000" dirty="0"/>
              <a:t> – Less congestion &amp; pollution, longer-lasting roads</a:t>
            </a:r>
            <a:br>
              <a:rPr lang="en-US" sz="2000" dirty="0"/>
            </a:br>
            <a:r>
              <a:rPr lang="en-US" sz="2000" b="1" dirty="0"/>
              <a:t>Catchline:</a:t>
            </a:r>
            <a:r>
              <a:rPr lang="en-US" sz="2000" dirty="0"/>
              <a:t> “Cleaner air, greener roads.”</a:t>
            </a:r>
          </a:p>
          <a:p>
            <a:r>
              <a:rPr lang="en-US" sz="2000" dirty="0"/>
              <a:t>🚀 </a:t>
            </a:r>
            <a:r>
              <a:rPr lang="en-US" sz="2000" b="1" dirty="0"/>
              <a:t>Community Impact</a:t>
            </a:r>
            <a:r>
              <a:rPr lang="en-US" sz="2000" dirty="0"/>
              <a:t> – Boosts smart city initiatives &amp; quality of life</a:t>
            </a:r>
            <a:br>
              <a:rPr lang="en-US" sz="2000" dirty="0"/>
            </a:br>
            <a:r>
              <a:rPr lang="en-US" sz="2000" b="1" dirty="0"/>
              <a:t>Catchline:</a:t>
            </a:r>
            <a:r>
              <a:rPr lang="en-US" sz="2000" dirty="0"/>
              <a:t> “Better roads today, better cities tomorrow.”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sldNum" idx="4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69EEA44-DB6D-4734-8EBF-8D8B568EA8BC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rPr>
              <a:t>5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8" name="Picture 87"/>
          <p:cNvPicPr/>
          <p:nvPr/>
        </p:nvPicPr>
        <p:blipFill>
          <a:blip r:embed="rId3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89" name="Picture 88"/>
          <p:cNvPicPr/>
          <p:nvPr/>
        </p:nvPicPr>
        <p:blipFill>
          <a:blip r:embed="rId4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78F98D-9868-F449-9A2C-B1B0A5C70A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1730" y="3745558"/>
            <a:ext cx="2575467" cy="25852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Oval 9">
            <a:extLst>
              <a:ext uri="{FF2B5EF4-FFF2-40B4-BE49-F238E27FC236}">
                <a16:creationId xmlns:a16="http://schemas.microsoft.com/office/drawing/2014/main" id="{CF3B5589-F824-BBF4-E6F2-C9E14D036262}"/>
              </a:ext>
            </a:extLst>
          </p:cNvPr>
          <p:cNvSpPr/>
          <p:nvPr/>
        </p:nvSpPr>
        <p:spPr>
          <a:xfrm>
            <a:off x="84803" y="31552"/>
            <a:ext cx="1295400" cy="1123170"/>
          </a:xfrm>
          <a:prstGeom prst="ellipse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-540000" y="-18000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imes New Roman"/>
                <a:ea typeface="ＭＳ Ｐゴシック"/>
              </a:rPr>
              <a:t>RESEARCH  AND REFERENCES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75900" y="1077778"/>
            <a:ext cx="12039600" cy="5630857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u="sng" dirty="0">
                <a:latin typeface="Engravers MT" panose="02090707080505020304" pitchFamily="18" charset="0"/>
              </a:rPr>
              <a:t>References &amp; Related Research Work </a:t>
            </a:r>
          </a:p>
          <a:p>
            <a:r>
              <a:rPr lang="en-US" b="1" dirty="0"/>
              <a:t>1️⃣ Smartphone &amp; Sensor-Based Road Monitoring</a:t>
            </a:r>
          </a:p>
          <a:p>
            <a:r>
              <a:rPr lang="en-US" dirty="0"/>
              <a:t>Research shows that </a:t>
            </a:r>
            <a:r>
              <a:rPr lang="en-US" b="1" dirty="0"/>
              <a:t>accelerometers, gyroscopes, and GPS in smartphones</a:t>
            </a:r>
            <a:r>
              <a:rPr lang="en-US" dirty="0"/>
              <a:t> can accurately detect potholes and road roughness.</a:t>
            </a:r>
            <a:br>
              <a:rPr lang="en-US" dirty="0"/>
            </a:br>
            <a:r>
              <a:rPr lang="en-US" dirty="0"/>
              <a:t>🔗 </a:t>
            </a:r>
            <a:r>
              <a:rPr lang="en-US" dirty="0">
                <a:hlinkClick r:id="rId3"/>
              </a:rPr>
              <a:t>https://www.mdpi.com/1424-8220/18/11/3845</a:t>
            </a:r>
            <a:endParaRPr lang="en-US" dirty="0"/>
          </a:p>
          <a:p>
            <a:r>
              <a:rPr lang="en-US" b="1" dirty="0"/>
              <a:t>2️⃣ AI-Based Pothole Detection Using Images</a:t>
            </a:r>
          </a:p>
          <a:p>
            <a:r>
              <a:rPr lang="en-US" dirty="0"/>
              <a:t>This work uses </a:t>
            </a:r>
            <a:r>
              <a:rPr lang="en-US" b="1" dirty="0"/>
              <a:t>computer vision and machine learning</a:t>
            </a:r>
            <a:r>
              <a:rPr lang="en-US" dirty="0"/>
              <a:t> to detect potholes and cracks from road images.</a:t>
            </a:r>
            <a:br>
              <a:rPr lang="en-US" dirty="0"/>
            </a:br>
            <a:r>
              <a:rPr lang="en-US" dirty="0"/>
              <a:t>🔗 </a:t>
            </a:r>
            <a:r>
              <a:rPr lang="en-US" dirty="0">
                <a:hlinkClick r:id="rId4"/>
              </a:rPr>
              <a:t>https://pmc.ncbi.nlm.nih.gov/articles/PMC7583950/</a:t>
            </a:r>
            <a:endParaRPr lang="en-US" dirty="0"/>
          </a:p>
          <a:p>
            <a:r>
              <a:rPr lang="en-US" b="1" dirty="0"/>
              <a:t>3️⃣ IoT-Based Pothole Detection System</a:t>
            </a:r>
          </a:p>
          <a:p>
            <a:r>
              <a:rPr lang="en-US" dirty="0"/>
              <a:t>Demonstrates an </a:t>
            </a:r>
            <a:r>
              <a:rPr lang="en-US" b="1" dirty="0"/>
              <a:t>IoT + cloud + GPS</a:t>
            </a:r>
            <a:r>
              <a:rPr lang="en-US" dirty="0"/>
              <a:t> approach for real-time pothole detection and reporting.</a:t>
            </a:r>
            <a:br>
              <a:rPr lang="en-US" dirty="0"/>
            </a:br>
            <a:r>
              <a:rPr lang="en-US" dirty="0"/>
              <a:t>🔗 </a:t>
            </a:r>
            <a:r>
              <a:rPr lang="en-US" dirty="0">
                <a:hlinkClick r:id="rId5"/>
              </a:rPr>
              <a:t>https://ijerst.org/index.php/ijerst/article/view/1293</a:t>
            </a:r>
            <a:endParaRPr lang="en-US" dirty="0"/>
          </a:p>
          <a:p>
            <a:r>
              <a:rPr lang="en-US" b="1" dirty="0"/>
              <a:t>4️⃣ Road Condition Monitoring Using Smart Sensors &amp; AI (Review Paper)</a:t>
            </a:r>
          </a:p>
          <a:p>
            <a:r>
              <a:rPr lang="en-US" dirty="0"/>
              <a:t>A comprehensive review of </a:t>
            </a:r>
            <a:r>
              <a:rPr lang="en-US" b="1" dirty="0"/>
              <a:t>sensor-based, AI-driven road monitoring systems</a:t>
            </a:r>
            <a:r>
              <a:rPr lang="en-US" dirty="0"/>
              <a:t> and smart city integration.</a:t>
            </a:r>
            <a:br>
              <a:rPr lang="en-US" dirty="0"/>
            </a:br>
            <a:r>
              <a:rPr lang="en-US" dirty="0"/>
              <a:t>🔗 </a:t>
            </a:r>
            <a:r>
              <a:rPr lang="en-US" dirty="0">
                <a:hlinkClick r:id="rId6"/>
              </a:rPr>
              <a:t>https://www.mdpi.com/1424-8220/22/8/3044</a:t>
            </a:r>
            <a:endParaRPr lang="en-US" dirty="0"/>
          </a:p>
          <a:p>
            <a:r>
              <a:rPr lang="en-US" b="1" dirty="0"/>
              <a:t>5️⃣ Crowd-Sensing &amp; Multi-Sensor Road Damage Detection</a:t>
            </a:r>
          </a:p>
          <a:p>
            <a:r>
              <a:rPr lang="en-US" dirty="0"/>
              <a:t>Explains how </a:t>
            </a:r>
            <a:r>
              <a:rPr lang="en-US" b="1" dirty="0"/>
              <a:t>data from multiple vehicles and sensors</a:t>
            </a:r>
            <a:r>
              <a:rPr lang="en-US" dirty="0"/>
              <a:t> improves accuracy and scalability.</a:t>
            </a:r>
            <a:br>
              <a:rPr lang="en-US" dirty="0"/>
            </a:br>
            <a:r>
              <a:rPr lang="en-US" dirty="0"/>
              <a:t>🔗 </a:t>
            </a:r>
            <a:r>
              <a:rPr lang="en-US" dirty="0">
                <a:hlinkClick r:id="rId7"/>
              </a:rPr>
              <a:t>https://www.sciencedirect.com/science/article/pii/S1574119216301262</a:t>
            </a:r>
            <a:endParaRPr lang="en-US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93" name="PlaceHolder 2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072BBF3-5608-46E8-875A-9E3D66DF137E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rPr>
              <a:t>6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5" name="Picture 94"/>
          <p:cNvPicPr/>
          <p:nvPr/>
        </p:nvPicPr>
        <p:blipFill>
          <a:blip r:embed="rId8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96" name="Picture 95"/>
          <p:cNvPicPr/>
          <p:nvPr/>
        </p:nvPicPr>
        <p:blipFill>
          <a:blip r:embed="rId9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  <p:sp>
        <p:nvSpPr>
          <p:cNvPr id="2" name="Oval 9">
            <a:extLst>
              <a:ext uri="{FF2B5EF4-FFF2-40B4-BE49-F238E27FC236}">
                <a16:creationId xmlns:a16="http://schemas.microsoft.com/office/drawing/2014/main" id="{F3F14B4B-0A1D-A7B0-5486-CC4096E37D99}"/>
              </a:ext>
            </a:extLst>
          </p:cNvPr>
          <p:cNvSpPr/>
          <p:nvPr/>
        </p:nvSpPr>
        <p:spPr>
          <a:xfrm>
            <a:off x="48861" y="0"/>
            <a:ext cx="1295400" cy="1123170"/>
          </a:xfrm>
          <a:prstGeom prst="ellipse">
            <a:avLst/>
          </a:prstGeom>
          <a:blipFill dpi="0"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7729</TotalTime>
  <Words>1098</Words>
  <Application>Microsoft Office PowerPoint</Application>
  <PresentationFormat>Widescreen</PresentationFormat>
  <Paragraphs>155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23" baseType="lpstr">
      <vt:lpstr>Algerian</vt:lpstr>
      <vt:lpstr>Arial</vt:lpstr>
      <vt:lpstr>Arial Black</vt:lpstr>
      <vt:lpstr>Bahnschrift Light Condensed</vt:lpstr>
      <vt:lpstr>Bahnschrift Light SemiCondensed</vt:lpstr>
      <vt:lpstr>Bahnschrift SemiBold</vt:lpstr>
      <vt:lpstr>Bahnschrift SemiBold Condensed</vt:lpstr>
      <vt:lpstr>Bernard MT Condensed</vt:lpstr>
      <vt:lpstr>Calibri</vt:lpstr>
      <vt:lpstr>Engravers MT</vt:lpstr>
      <vt:lpstr>Garamond</vt:lpstr>
      <vt:lpstr>Symbol</vt:lpstr>
      <vt:lpstr>Times New Roman</vt:lpstr>
      <vt:lpstr>TradeGothic</vt:lpstr>
      <vt:lpstr>Wingdings</vt:lpstr>
      <vt:lpstr>Office Theme</vt:lpstr>
      <vt:lpstr>Office Theme</vt:lpstr>
      <vt:lpstr>“SAMVED” HACKATHON 2026</vt:lpstr>
      <vt:lpstr>Smart Road Damage Reporting &amp; Rapid Response System for Solapur Municipal Corporation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Aditya kumar</cp:lastModifiedBy>
  <cp:revision>156</cp:revision>
  <dcterms:created xsi:type="dcterms:W3CDTF">2013-12-12T18:46:50Z</dcterms:created>
  <dcterms:modified xsi:type="dcterms:W3CDTF">2026-02-05T16:42:38Z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